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35"/>
  </p:notesMasterIdLst>
  <p:sldIdLst>
    <p:sldId id="256" r:id="rId2"/>
    <p:sldId id="257" r:id="rId3"/>
    <p:sldId id="286" r:id="rId4"/>
    <p:sldId id="287" r:id="rId5"/>
    <p:sldId id="288" r:id="rId6"/>
    <p:sldId id="291" r:id="rId7"/>
    <p:sldId id="258" r:id="rId8"/>
    <p:sldId id="260" r:id="rId9"/>
    <p:sldId id="259" r:id="rId10"/>
    <p:sldId id="261" r:id="rId11"/>
    <p:sldId id="262" r:id="rId12"/>
    <p:sldId id="263" r:id="rId13"/>
    <p:sldId id="264" r:id="rId14"/>
    <p:sldId id="265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94" r:id="rId33"/>
    <p:sldId id="295" r:id="rId34"/>
  </p:sldIdLst>
  <p:sldSz cx="9144000" cy="5143500" type="screen16x9"/>
  <p:notesSz cx="6858000" cy="9144000"/>
  <p:embeddedFontLst>
    <p:embeddedFont>
      <p:font typeface="Funnel Sans" pitchFamily="2" charset="0"/>
      <p:regular r:id="rId36"/>
      <p:bold r:id="rId37"/>
      <p:italic r:id="rId38"/>
      <p:boldItalic r:id="rId39"/>
    </p:embeddedFont>
    <p:embeddedFont>
      <p:font typeface="Geist" pitchFamily="2" charset="0"/>
      <p:regular r:id="rId40"/>
      <p:bold r:id="rId41"/>
    </p:embeddedFont>
    <p:embeddedFont>
      <p:font typeface="Geist Mono" panose="02010009000000000000" pitchFamily="49" charset="0"/>
      <p:regular r:id="rId42"/>
      <p:bold r:id="rId43"/>
    </p:embeddedFont>
    <p:embeddedFont>
      <p:font typeface="Geist SemiBold" pitchFamily="2" charset="0"/>
      <p:regular r:id="rId44"/>
      <p:bold r:id="rId45"/>
    </p:embeddedFont>
    <p:embeddedFont>
      <p:font typeface="Nunito Light" panose="020F0302020204030204" pitchFamily="34" charset="0"/>
      <p:regular r:id="rId46"/>
      <p:italic r:id="rId47"/>
    </p:embeddedFont>
    <p:embeddedFont>
      <p:font typeface="Open Sans Light" panose="020B0306030504020204" pitchFamily="34" charset="0"/>
      <p:regular r:id="rId48"/>
      <p:italic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1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F5A54B-845F-40A5-93D4-06B3EB2D4B52}">
  <a:tblStyle styleId="{78F5A54B-845F-40A5-93D4-06B3EB2D4B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92"/>
    <p:restoredTop sz="94761"/>
  </p:normalViewPr>
  <p:slideViewPr>
    <p:cSldViewPr snapToGrid="0">
      <p:cViewPr varScale="1">
        <p:scale>
          <a:sx n="141" d="100"/>
          <a:sy n="141" d="100"/>
        </p:scale>
        <p:origin x="96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748" y="0"/>
            <a:ext cx="9143998" cy="5143503"/>
            <a:chOff x="-4748" y="0"/>
            <a:chExt cx="9143998" cy="5143503"/>
          </a:xfrm>
        </p:grpSpPr>
        <p:pic>
          <p:nvPicPr>
            <p:cNvPr id="10" name="Google Shape;10;p2" title="FONDO-01.png"/>
            <p:cNvPicPr preferRelativeResize="0"/>
            <p:nvPr/>
          </p:nvPicPr>
          <p:blipFill rotWithShape="1">
            <a:blip r:embed="rId2">
              <a:alphaModFix amt="95000"/>
            </a:blip>
            <a:srcRect t="55208" b="6185"/>
            <a:stretch/>
          </p:blipFill>
          <p:spPr>
            <a:xfrm flipH="1">
              <a:off x="-4748" y="3157553"/>
              <a:ext cx="9143998" cy="1985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FONDO-01.png"/>
            <p:cNvPicPr preferRelativeResize="0"/>
            <p:nvPr/>
          </p:nvPicPr>
          <p:blipFill rotWithShape="1">
            <a:blip r:embed="rId2">
              <a:alphaModFix amt="95000"/>
            </a:blip>
            <a:srcRect t="30845" b="7771"/>
            <a:stretch/>
          </p:blipFill>
          <p:spPr>
            <a:xfrm flipH="1">
              <a:off x="-4748" y="0"/>
              <a:ext cx="9143998" cy="31575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" y="1979841"/>
            <a:ext cx="5429100" cy="142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Geist"/>
              <a:buNone/>
              <a:defRPr sz="5200">
                <a:solidFill>
                  <a:srgbClr val="191919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657850" y="253700"/>
            <a:ext cx="16350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 rot="10800000" flipH="1">
            <a:off x="0" y="-1"/>
            <a:ext cx="9144000" cy="5143502"/>
            <a:chOff x="0" y="-1"/>
            <a:chExt cx="9144000" cy="5143502"/>
          </a:xfrm>
        </p:grpSpPr>
        <p:pic>
          <p:nvPicPr>
            <p:cNvPr id="16" name="Google Shape;16;p3" title="FONDO-01.png"/>
            <p:cNvPicPr preferRelativeResize="0"/>
            <p:nvPr/>
          </p:nvPicPr>
          <p:blipFill rotWithShape="1">
            <a:blip r:embed="rId2">
              <a:alphaModFix amt="90000"/>
            </a:blip>
            <a:srcRect l="-9" r="85531"/>
            <a:stretch/>
          </p:blipFill>
          <p:spPr>
            <a:xfrm rot="10800000" flipH="1">
              <a:off x="0" y="-1"/>
              <a:ext cx="1323625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3" title="FONDO-01.png"/>
            <p:cNvPicPr preferRelativeResize="0"/>
            <p:nvPr/>
          </p:nvPicPr>
          <p:blipFill rotWithShape="1">
            <a:blip r:embed="rId2">
              <a:alphaModFix amt="90000"/>
            </a:blip>
            <a:srcRect r="14362"/>
            <a:stretch/>
          </p:blipFill>
          <p:spPr>
            <a:xfrm>
              <a:off x="1314450" y="0"/>
              <a:ext cx="782955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400300" y="228600"/>
            <a:ext cx="3401400" cy="25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228600" y="228625"/>
            <a:ext cx="1086000" cy="117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latin typeface="Geist Mono"/>
                <a:ea typeface="Geist Mono"/>
                <a:cs typeface="Geist Mono"/>
                <a:sym typeface="Geist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 title="fondo-02.png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23" y="0"/>
            <a:ext cx="91427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 title="fondo-02.png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23" y="0"/>
            <a:ext cx="91427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7" title="fondo-02.png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23" y="0"/>
            <a:ext cx="91427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228600" y="228594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ubTitle" idx="1"/>
          </p:nvPr>
        </p:nvSpPr>
        <p:spPr>
          <a:xfrm>
            <a:off x="1314450" y="3006000"/>
            <a:ext cx="4343400" cy="190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8"/>
          <p:cNvGrpSpPr/>
          <p:nvPr/>
        </p:nvGrpSpPr>
        <p:grpSpPr>
          <a:xfrm>
            <a:off x="-4748" y="0"/>
            <a:ext cx="9143998" cy="5143503"/>
            <a:chOff x="-4748" y="0"/>
            <a:chExt cx="9143998" cy="5143503"/>
          </a:xfrm>
        </p:grpSpPr>
        <p:pic>
          <p:nvPicPr>
            <p:cNvPr id="40" name="Google Shape;40;p8" title="FONDO-01.png"/>
            <p:cNvPicPr preferRelativeResize="0"/>
            <p:nvPr/>
          </p:nvPicPr>
          <p:blipFill rotWithShape="1">
            <a:blip r:embed="rId2">
              <a:alphaModFix amt="95000"/>
            </a:blip>
            <a:srcRect t="55208" b="6185"/>
            <a:stretch/>
          </p:blipFill>
          <p:spPr>
            <a:xfrm flipH="1">
              <a:off x="-4748" y="3157553"/>
              <a:ext cx="9143998" cy="1985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8" title="FONDO-01.png"/>
            <p:cNvPicPr preferRelativeResize="0"/>
            <p:nvPr/>
          </p:nvPicPr>
          <p:blipFill rotWithShape="1">
            <a:blip r:embed="rId2">
              <a:alphaModFix amt="95000"/>
            </a:blip>
            <a:srcRect t="30845" b="7771"/>
            <a:stretch/>
          </p:blipFill>
          <p:spPr>
            <a:xfrm flipH="1">
              <a:off x="-4748" y="0"/>
              <a:ext cx="9143998" cy="31575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228600" y="902741"/>
            <a:ext cx="6515100" cy="252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9"/>
          <p:cNvGrpSpPr/>
          <p:nvPr/>
        </p:nvGrpSpPr>
        <p:grpSpPr>
          <a:xfrm>
            <a:off x="-4748" y="-8526"/>
            <a:ext cx="9143998" cy="5178701"/>
            <a:chOff x="-4748" y="-1177144"/>
            <a:chExt cx="9143998" cy="5178701"/>
          </a:xfrm>
        </p:grpSpPr>
        <p:pic>
          <p:nvPicPr>
            <p:cNvPr id="45" name="Google Shape;45;p9" title="FONDO-01.png"/>
            <p:cNvPicPr preferRelativeResize="0"/>
            <p:nvPr/>
          </p:nvPicPr>
          <p:blipFill rotWithShape="1">
            <a:blip r:embed="rId2">
              <a:alphaModFix/>
            </a:blip>
            <a:srcRect t="19295" b="52911"/>
            <a:stretch/>
          </p:blipFill>
          <p:spPr>
            <a:xfrm rot="10800000">
              <a:off x="-4748" y="2571757"/>
              <a:ext cx="9143998" cy="142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9" title="FONDO-01.png"/>
            <p:cNvPicPr preferRelativeResize="0"/>
            <p:nvPr/>
          </p:nvPicPr>
          <p:blipFill rotWithShape="1">
            <a:blip r:embed="rId2">
              <a:alphaModFix amt="95000"/>
            </a:blip>
            <a:srcRect l="50" t="27279" r="-50" b="-160"/>
            <a:stretch/>
          </p:blipFill>
          <p:spPr>
            <a:xfrm rot="10800000">
              <a:off x="-4748" y="-1177144"/>
              <a:ext cx="9143998" cy="3748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486150" y="2198542"/>
            <a:ext cx="5429400" cy="17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228600" y="4329125"/>
            <a:ext cx="3257400" cy="585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Geist SemiBold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4"/>
          <p:cNvGrpSpPr/>
          <p:nvPr/>
        </p:nvGrpSpPr>
        <p:grpSpPr>
          <a:xfrm>
            <a:off x="0" y="-750"/>
            <a:ext cx="9143998" cy="5140250"/>
            <a:chOff x="0" y="-750"/>
            <a:chExt cx="9143998" cy="5140250"/>
          </a:xfrm>
        </p:grpSpPr>
        <p:pic>
          <p:nvPicPr>
            <p:cNvPr id="82" name="Google Shape;82;p14" title="FONDO-01.png"/>
            <p:cNvPicPr preferRelativeResize="0"/>
            <p:nvPr/>
          </p:nvPicPr>
          <p:blipFill rotWithShape="1">
            <a:blip r:embed="rId2">
              <a:alphaModFix/>
            </a:blip>
            <a:srcRect t="6759" b="31745"/>
            <a:stretch/>
          </p:blipFill>
          <p:spPr>
            <a:xfrm rot="10800000" flipH="1">
              <a:off x="0" y="1975926"/>
              <a:ext cx="9143998" cy="3163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4" title="FONDO-01.png"/>
            <p:cNvPicPr preferRelativeResize="0"/>
            <p:nvPr/>
          </p:nvPicPr>
          <p:blipFill rotWithShape="1">
            <a:blip r:embed="rId2">
              <a:alphaModFix/>
            </a:blip>
            <a:srcRect t="45194" b="16186"/>
            <a:stretch/>
          </p:blipFill>
          <p:spPr>
            <a:xfrm rot="10800000">
              <a:off x="0" y="-750"/>
              <a:ext cx="9143998" cy="1986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228600" y="507091"/>
            <a:ext cx="43434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1"/>
          </p:nvPr>
        </p:nvSpPr>
        <p:spPr>
          <a:xfrm>
            <a:off x="3486150" y="2580471"/>
            <a:ext cx="5277900" cy="23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6"/>
          <p:cNvGrpSpPr/>
          <p:nvPr/>
        </p:nvGrpSpPr>
        <p:grpSpPr>
          <a:xfrm rot="10800000" flipH="1">
            <a:off x="0" y="-1"/>
            <a:ext cx="9144000" cy="5143502"/>
            <a:chOff x="0" y="-1"/>
            <a:chExt cx="9144000" cy="5143502"/>
          </a:xfrm>
        </p:grpSpPr>
        <p:pic>
          <p:nvPicPr>
            <p:cNvPr id="93" name="Google Shape;93;p16" title="FONDO-01.png"/>
            <p:cNvPicPr preferRelativeResize="0"/>
            <p:nvPr/>
          </p:nvPicPr>
          <p:blipFill rotWithShape="1">
            <a:blip r:embed="rId2">
              <a:alphaModFix amt="90000"/>
            </a:blip>
            <a:srcRect l="36074" r="2060"/>
            <a:stretch/>
          </p:blipFill>
          <p:spPr>
            <a:xfrm rot="10800000" flipH="1">
              <a:off x="3488075" y="-1"/>
              <a:ext cx="5655925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6" title="FONDO-01.png"/>
            <p:cNvPicPr preferRelativeResize="0"/>
            <p:nvPr/>
          </p:nvPicPr>
          <p:blipFill rotWithShape="1">
            <a:blip r:embed="rId2">
              <a:alphaModFix amt="90000"/>
            </a:blip>
            <a:srcRect l="61868"/>
            <a:stretch/>
          </p:blipFill>
          <p:spPr>
            <a:xfrm rot="10800000" flipH="1">
              <a:off x="0" y="0"/>
              <a:ext cx="348615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228600" y="231125"/>
            <a:ext cx="2714700" cy="17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subTitle" idx="1"/>
          </p:nvPr>
        </p:nvSpPr>
        <p:spPr>
          <a:xfrm>
            <a:off x="213000" y="3454525"/>
            <a:ext cx="2187300" cy="14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eist SemiBold"/>
                <a:ea typeface="Geist SemiBold"/>
                <a:cs typeface="Geist SemiBold"/>
                <a:sym typeface="Geis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subTitle" idx="2"/>
          </p:nvPr>
        </p:nvSpPr>
        <p:spPr>
          <a:xfrm>
            <a:off x="4850975" y="1263718"/>
            <a:ext cx="40647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ubTitle" idx="3"/>
          </p:nvPr>
        </p:nvSpPr>
        <p:spPr>
          <a:xfrm>
            <a:off x="4850975" y="251178"/>
            <a:ext cx="40647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ubTitle" idx="4"/>
          </p:nvPr>
        </p:nvSpPr>
        <p:spPr>
          <a:xfrm>
            <a:off x="4850975" y="2276259"/>
            <a:ext cx="40647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 idx="5" hasCustomPrompt="1"/>
          </p:nvPr>
        </p:nvSpPr>
        <p:spPr>
          <a:xfrm>
            <a:off x="3893101" y="1264681"/>
            <a:ext cx="6789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>
                <a:latin typeface="Geist Mono"/>
                <a:ea typeface="Geist Mono"/>
                <a:cs typeface="Geist Mono"/>
                <a:sym typeface="Geist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6"/>
          <p:cNvSpPr txBox="1">
            <a:spLocks noGrp="1"/>
          </p:cNvSpPr>
          <p:nvPr>
            <p:ph type="title" idx="6" hasCustomPrompt="1"/>
          </p:nvPr>
        </p:nvSpPr>
        <p:spPr>
          <a:xfrm>
            <a:off x="3893691" y="252440"/>
            <a:ext cx="677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>
                <a:latin typeface="Geist Mono"/>
                <a:ea typeface="Geist Mono"/>
                <a:cs typeface="Geist Mono"/>
                <a:sym typeface="Geist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2" name="Google Shape;102;p16"/>
          <p:cNvSpPr txBox="1">
            <a:spLocks noGrp="1"/>
          </p:cNvSpPr>
          <p:nvPr>
            <p:ph type="title" idx="7" hasCustomPrompt="1"/>
          </p:nvPr>
        </p:nvSpPr>
        <p:spPr>
          <a:xfrm>
            <a:off x="3893100" y="2277222"/>
            <a:ext cx="6789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400">
                <a:latin typeface="Geist Mono"/>
                <a:ea typeface="Geist Mono"/>
                <a:cs typeface="Geist Mono"/>
                <a:sym typeface="Geist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9"/>
          <p:cNvGrpSpPr/>
          <p:nvPr/>
        </p:nvGrpSpPr>
        <p:grpSpPr>
          <a:xfrm rot="10800000" flipH="1">
            <a:off x="0" y="-750"/>
            <a:ext cx="9143998" cy="5140250"/>
            <a:chOff x="0" y="-750"/>
            <a:chExt cx="9143998" cy="5140250"/>
          </a:xfrm>
        </p:grpSpPr>
        <p:pic>
          <p:nvPicPr>
            <p:cNvPr id="127" name="Google Shape;127;p19" title="FONDO-01.png"/>
            <p:cNvPicPr preferRelativeResize="0"/>
            <p:nvPr/>
          </p:nvPicPr>
          <p:blipFill rotWithShape="1">
            <a:blip r:embed="rId2">
              <a:alphaModFix amt="90000"/>
            </a:blip>
            <a:srcRect t="6759" b="31745"/>
            <a:stretch/>
          </p:blipFill>
          <p:spPr>
            <a:xfrm rot="10800000" flipH="1">
              <a:off x="0" y="1975926"/>
              <a:ext cx="9143998" cy="3163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9" title="FONDO-01.png"/>
            <p:cNvPicPr preferRelativeResize="0"/>
            <p:nvPr/>
          </p:nvPicPr>
          <p:blipFill rotWithShape="1">
            <a:blip r:embed="rId2">
              <a:alphaModFix amt="90000"/>
            </a:blip>
            <a:srcRect t="45194" b="16186"/>
            <a:stretch/>
          </p:blipFill>
          <p:spPr>
            <a:xfrm rot="10800000">
              <a:off x="0" y="-750"/>
              <a:ext cx="9143998" cy="1986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19"/>
          <p:cNvSpPr txBox="1"/>
          <p:nvPr/>
        </p:nvSpPr>
        <p:spPr>
          <a:xfrm>
            <a:off x="5657850" y="258175"/>
            <a:ext cx="32577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, and includes icons, infographics &amp; images by </a:t>
            </a:r>
            <a:r>
              <a:rPr lang="en" sz="1000" b="1" u="sng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endParaRPr sz="1000" b="1" u="sng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1314450" y="2339479"/>
            <a:ext cx="43434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1"/>
          </p:nvPr>
        </p:nvSpPr>
        <p:spPr>
          <a:xfrm>
            <a:off x="176250" y="228600"/>
            <a:ext cx="3309900" cy="11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0"/>
            <a:ext cx="9143379" cy="5143501"/>
            <a:chOff x="0" y="0"/>
            <a:chExt cx="9143379" cy="5143501"/>
          </a:xfrm>
        </p:grpSpPr>
        <p:pic>
          <p:nvPicPr>
            <p:cNvPr id="138" name="Google Shape;138;p21" title="fondo-02.png"/>
            <p:cNvPicPr preferRelativeResize="0"/>
            <p:nvPr/>
          </p:nvPicPr>
          <p:blipFill>
            <a:blip r:embed="rId2">
              <a:alphaModFix amt="90000"/>
            </a:blip>
            <a:stretch>
              <a:fillRect/>
            </a:stretch>
          </p:blipFill>
          <p:spPr>
            <a:xfrm>
              <a:off x="623" y="0"/>
              <a:ext cx="9142756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1" title="FONDO-5.png"/>
            <p:cNvPicPr preferRelativeResize="0"/>
            <p:nvPr/>
          </p:nvPicPr>
          <p:blipFill rotWithShape="1">
            <a:blip r:embed="rId3">
              <a:alphaModFix amt="90000"/>
            </a:blip>
            <a:srcRect l="3810" t="-19362" r="10566" b="38619"/>
            <a:stretch/>
          </p:blipFill>
          <p:spPr>
            <a:xfrm>
              <a:off x="0" y="990075"/>
              <a:ext cx="7829550" cy="4153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ist"/>
              <a:buNone/>
              <a:defRPr sz="2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8600" y="9360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●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○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■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●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○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■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●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○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unnel Sans"/>
              <a:buChar char="■"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2" r:id="rId10"/>
    <p:sldLayoutId id="2147483665" r:id="rId11"/>
    <p:sldLayoutId id="2147483667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7472" y="1571772"/>
            <a:ext cx="7863840" cy="3045948"/>
          </a:xfrm>
        </p:spPr>
        <p:txBody>
          <a:bodyPr wrap="square"/>
          <a:lstStyle/>
          <a:p>
            <a:r>
              <a:rPr lang="ru-RU" dirty="0"/>
              <a:t>Персональные данные: как составить соглашение, </a:t>
            </a:r>
            <a:br>
              <a:rPr lang="ru-RU" dirty="0"/>
            </a:br>
            <a:r>
              <a:rPr lang="ru-RU" dirty="0"/>
              <a:t>которое устроит РКН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0136" y="256032"/>
            <a:ext cx="2834640" cy="1170432"/>
          </a:xfrm>
        </p:spPr>
        <p:txBody>
          <a:bodyPr wrap="square"/>
          <a:lstStyle/>
          <a:p>
            <a:r>
              <a:rPr dirty="0"/>
              <a:t>Александр Чаркин</a:t>
            </a:r>
          </a:p>
          <a:p>
            <a:r>
              <a:rPr lang="ru-RU" i="1" dirty="0"/>
              <a:t>	Куратор специальных проектов корпоративной практики ЮК ЭБР</a:t>
            </a:r>
            <a:endParaRPr i="1" dirty="0"/>
          </a:p>
        </p:txBody>
      </p:sp>
      <p:sp>
        <p:nvSpPr>
          <p:cNvPr id="4" name="TextBox 3"/>
          <p:cNvSpPr txBox="1"/>
          <p:nvPr/>
        </p:nvSpPr>
        <p:spPr>
          <a:xfrm>
            <a:off x="347472" y="4763028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777777"/>
                </a:solidFill>
                <a:latin typeface="Robot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37160"/>
            <a:ext cx="2743200" cy="822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0" i="0">
                <a:solidFill>
                  <a:srgbClr val="191919"/>
                </a:solidFill>
                <a:latin typeface="Geist"/>
              </a:rPr>
              <a:t>КТО Я?</a:t>
            </a:r>
          </a:p>
        </p:txBody>
      </p:sp>
      <p:pic>
        <p:nvPicPr>
          <p:cNvPr id="3" name="Picture 2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188720"/>
            <a:ext cx="2048256" cy="20482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3383280"/>
            <a:ext cx="3017520" cy="91101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 dirty="0">
                <a:solidFill>
                  <a:srgbClr val="191919"/>
                </a:solidFill>
                <a:latin typeface="Roboto"/>
              </a:rPr>
              <a:t>Чаркин Александр</a:t>
            </a:r>
          </a:p>
          <a:p>
            <a:pPr>
              <a:spcAft>
                <a:spcPts val="1000"/>
              </a:spcAft>
            </a:pPr>
            <a:r>
              <a:rPr lang="ru-RU" sz="1200" i="1" dirty="0"/>
              <a:t>Куратор специальных проектов корпоративной практики ЮК ЭБР </a:t>
            </a:r>
          </a:p>
          <a:p>
            <a:pPr>
              <a:spcAft>
                <a:spcPts val="1000"/>
              </a:spcAft>
            </a:pPr>
            <a:r>
              <a:rPr sz="1000" b="0" i="0" dirty="0" err="1">
                <a:solidFill>
                  <a:srgbClr val="3B3B3B"/>
                </a:solidFill>
                <a:latin typeface="Roboto"/>
              </a:rPr>
              <a:t>Сопровождаю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IT-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проекты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с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0207" y="566928"/>
            <a:ext cx="4904081" cy="32860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Среди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проектов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: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3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Крупнейший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производитель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технологий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для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БЛА </a:t>
            </a:r>
            <a:br>
              <a:rPr lang="ru-RU" sz="1300" b="0" i="0" dirty="0">
                <a:solidFill>
                  <a:srgbClr val="3B3B3B"/>
                </a:solidFill>
                <a:latin typeface="Roboto"/>
              </a:rPr>
            </a:br>
            <a:r>
              <a:rPr lang="ru-RU" sz="1300" b="0" i="0" dirty="0">
                <a:solidFill>
                  <a:srgbClr val="3B3B3B"/>
                </a:solidFill>
                <a:latin typeface="Roboto"/>
              </a:rPr>
              <a:t>			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(~1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млрд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руб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)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300" b="0" i="0" dirty="0">
                <a:solidFill>
                  <a:srgbClr val="3B3B3B"/>
                </a:solidFill>
                <a:latin typeface="Roboto"/>
              </a:rPr>
              <a:t>— AI-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стартап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который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впоследствии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был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выкуплен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лидирующим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банком</a:t>
            </a:r>
            <a:endParaRPr sz="13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3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Защита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команды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занимающейся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разработкой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smart-contract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решений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от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претензий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недобросовестного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заказчика</a:t>
            </a:r>
            <a:endParaRPr sz="1300" b="0" i="0" dirty="0">
              <a:solidFill>
                <a:srgbClr val="3B3B3B"/>
              </a:solidFill>
              <a:latin typeface="Roboto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Помимо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этого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: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300" b="0" i="0" dirty="0">
                <a:solidFill>
                  <a:srgbClr val="3B3B3B"/>
                </a:solidFill>
                <a:latin typeface="Roboto"/>
              </a:rPr>
              <a:t>— 2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красных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диплома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сейчас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процессе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защиты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диссертации</a:t>
            </a:r>
            <a:endParaRPr sz="13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300" b="0" i="0" dirty="0">
                <a:solidFill>
                  <a:srgbClr val="3B3B3B"/>
                </a:solidFill>
                <a:latin typeface="Roboto"/>
              </a:rPr>
              <a:t>— 3 ДПО,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том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числе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сфере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legaltech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AI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3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Благодарности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от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ГД,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комментарии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i="0" dirty="0" err="1">
                <a:solidFill>
                  <a:srgbClr val="3B3B3B"/>
                </a:solidFill>
                <a:latin typeface="Roboto"/>
              </a:rPr>
              <a:t>федеральных</a:t>
            </a:r>
            <a:r>
              <a:rPr sz="1300" b="0" i="0" dirty="0">
                <a:solidFill>
                  <a:srgbClr val="3B3B3B"/>
                </a:solidFill>
                <a:latin typeface="Roboto"/>
              </a:rPr>
              <a:t> СМИ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74320"/>
            <a:ext cx="6309360" cy="2560320"/>
          </a:xfrm>
        </p:spPr>
        <p:txBody>
          <a:bodyPr wrap="square"/>
          <a:lstStyle/>
          <a:p>
            <a:r>
              <a:rPr lang="ru-RU" sz="2800" dirty="0"/>
              <a:t>Почему это важно</a:t>
            </a:r>
            <a:endParaRPr sz="2800" dirty="0"/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228600" y="228600"/>
            <a:ext cx="1280160" cy="1170432"/>
          </a:xfrm>
        </p:spPr>
        <p:txBody>
          <a:bodyPr/>
          <a:lstStyle/>
          <a:p>
            <a:r>
              <a:rPr dirty="0"/>
              <a:t>0</a:t>
            </a:r>
            <a:r>
              <a:rPr lang="ru-R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566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Базовые штрафы: ст. 13.11 КоАП РФ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68580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777777"/>
                </a:solidFill>
                <a:latin typeface="Roboto"/>
              </a:rPr>
              <a:t>Норма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960120"/>
            <a:ext cx="466344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777777"/>
                </a:solidFill>
                <a:latin typeface="Roboto"/>
              </a:rPr>
              <a:t>Нарушение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960120"/>
            <a:ext cx="1280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777777"/>
                </a:solidFill>
                <a:latin typeface="Roboto"/>
              </a:rPr>
              <a:t>Юрлицо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960120"/>
            <a:ext cx="1280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777777"/>
                </a:solidFill>
                <a:latin typeface="Roboto"/>
              </a:rPr>
              <a:t>Повторно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07008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298448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Обработка без правового основания либо несовместимая с целями сбора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298448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150–300 тыс.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298448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300–500 тыс.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1664207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1728216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28216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Обработка без письменного согласия там, где оно обязательно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28216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300–700 тыс.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28216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1–1,5 млн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2093976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2157984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157984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Нет политики в открытом доступе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157984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30–60 тыс.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157984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2523744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2587752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587752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Не предоставлена информация субъекту об обработке его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587752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40–80 тыс.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587752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2953512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3017520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17520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Не исполнено требование об уточнении, блокировании или уничтожении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017520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50–90 тыс.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017520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300–500 тыс.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3383279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3447287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447287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Нарушение требования о локализации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447287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1–6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447287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6–18 млн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3813048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3877055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877055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Не подано уведомление об обработке персональных данных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877055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100–300 тыс.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877055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4242816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4306823"/>
            <a:ext cx="77724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1584D"/>
                </a:solidFill>
                <a:latin typeface="Roboto"/>
              </a:rPr>
              <a:t>ч. 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306823"/>
            <a:ext cx="470916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Не подано уведомление об утечке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306823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191919"/>
                </a:solidFill>
                <a:latin typeface="Roboto"/>
              </a:rPr>
              <a:t>1–3 млн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306823"/>
            <a:ext cx="1325880" cy="38404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672583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764023"/>
            <a:ext cx="8138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1" dirty="0" err="1">
                <a:solidFill>
                  <a:srgbClr val="777777"/>
                </a:solidFill>
                <a:latin typeface="Roboto"/>
              </a:rPr>
              <a:t>Суммы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указаны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для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юридических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лиц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Для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граждан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и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должностных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лиц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действуют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самостоятельные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размеры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ИП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по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ч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8–18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отвечают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как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юрлица</a:t>
            </a:r>
            <a:endParaRPr sz="900" b="0" i="1" dirty="0">
              <a:solidFill>
                <a:srgbClr val="777777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2524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Оборотные штрафы за утечки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457200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777777"/>
                </a:solidFill>
                <a:latin typeface="Roboto"/>
              </a:rPr>
              <a:t>Объём утечки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960120"/>
            <a:ext cx="329184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777777"/>
                </a:solidFill>
                <a:latin typeface="Roboto"/>
              </a:rPr>
              <a:t>Штраф на юридическое лицо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07008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98448"/>
            <a:ext cx="4663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1–10 тыс. субъектов или 10–100 тыс. идентификаторов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298448"/>
            <a:ext cx="2377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91919"/>
                </a:solidFill>
                <a:latin typeface="Roboto"/>
              </a:rPr>
              <a:t>3–5 млн руб.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298448"/>
            <a:ext cx="73152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1">
                <a:solidFill>
                  <a:srgbClr val="777777"/>
                </a:solidFill>
                <a:latin typeface="Roboto"/>
              </a:rPr>
              <a:t>ч. 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645919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709928"/>
            <a:ext cx="4663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10–100 тыс. субъектов или 100 тыс. – 1 млн идентификаторов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09928"/>
            <a:ext cx="2377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91919"/>
                </a:solidFill>
                <a:latin typeface="Roboto"/>
              </a:rPr>
              <a:t>5–10 млн руб.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709928"/>
            <a:ext cx="73152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1">
                <a:solidFill>
                  <a:srgbClr val="777777"/>
                </a:solidFill>
                <a:latin typeface="Roboto"/>
              </a:rPr>
              <a:t>ч. 13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2057400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2121408"/>
            <a:ext cx="4663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более 100 тыс. субъектов или более 1 млн идентификаторов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121408"/>
            <a:ext cx="2377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91919"/>
                </a:solidFill>
                <a:latin typeface="Roboto"/>
              </a:rPr>
              <a:t>10–15 млн руб.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121408"/>
            <a:ext cx="73152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1">
                <a:solidFill>
                  <a:srgbClr val="777777"/>
                </a:solidFill>
                <a:latin typeface="Roboto"/>
              </a:rPr>
              <a:t>ч. 14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2468879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2532888"/>
            <a:ext cx="4663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любой объём специальных категорий персональных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532888"/>
            <a:ext cx="2377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91919"/>
                </a:solidFill>
                <a:latin typeface="Roboto"/>
              </a:rPr>
              <a:t>10–15 млн руб.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532888"/>
            <a:ext cx="73152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1">
                <a:solidFill>
                  <a:srgbClr val="777777"/>
                </a:solidFill>
                <a:latin typeface="Roboto"/>
              </a:rPr>
              <a:t>ч. 16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2880360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2944368"/>
            <a:ext cx="4663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любой объём биометрических персональных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944368"/>
            <a:ext cx="237744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91919"/>
                </a:solidFill>
                <a:latin typeface="Roboto"/>
              </a:rPr>
              <a:t>15–20 млн руб.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44368"/>
            <a:ext cx="73152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 i="1">
                <a:solidFill>
                  <a:srgbClr val="777777"/>
                </a:solidFill>
                <a:latin typeface="Roboto"/>
              </a:rPr>
              <a:t>ч. 17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3291840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3465576"/>
            <a:ext cx="8138160" cy="7315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B3B3B"/>
                </a:solidFill>
                <a:latin typeface="Roboto"/>
              </a:rPr>
              <a:t>Повторная утечка: от 1 до 3% совокупной выручки за год,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3B3B3B"/>
                </a:solidFill>
                <a:latin typeface="Roboto"/>
              </a:rPr>
              <a:t>но не менее 20 млн руб. (для спецкатегорий и биометрии — 25 млн) и не более 500 млн руб.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88536"/>
            <a:ext cx="8138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ч. 15 и 18 ст. 13.11 КоАП РФ. Идентификатор — уникальное обозначение сведений о физлице в информационной системе оператора</a:t>
            </a:r>
          </a:p>
        </p:txBody>
      </p:sp>
    </p:spTree>
    <p:extLst>
      <p:ext uri="{BB962C8B-B14F-4D97-AF65-F5344CB8AC3E}">
        <p14:creationId xmlns:p14="http://schemas.microsoft.com/office/powerpoint/2010/main" val="208796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Уголовная ответственность: ст. 272.1 УК РФ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7315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B3B3B"/>
                </a:solidFill>
                <a:latin typeface="Roboto"/>
              </a:rPr>
              <a:t>Незаконные использование, передача, сбор и хранение компьютерной информации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3B3B3B"/>
                </a:solidFill>
                <a:latin typeface="Roboto"/>
              </a:rPr>
              <a:t>с персональными данными, если она получена незаконным путём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92024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103120"/>
            <a:ext cx="4114800" cy="23774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Наказание по частям статьи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 ч. 1 — штраф до 300 тыс. руб. или до 4 лет лишения свободы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 ч. 2 — с использованием служебного положения, до 5 лет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 ч. 3 — группой лиц по предварительному сговору, до 6 лет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 ч. 4 — тяжкие последствия, до 8 лет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— ч. 5 — специальные категории данных, до 10 лет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2103120"/>
            <a:ext cx="0" cy="237744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4920" y="2103120"/>
            <a:ext cx="3611880" cy="23774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Что это значит для стартапа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Субъект — физическое лицо, чаще всего ваш собственный или бывший сотрудник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Компания при этом получает административный штраф за то, что не приняла мер защиты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Минимальный набор мер: NDA, разграничение доступа, логирование выгрузок, отзыв доступов при увольнении</a:t>
            </a:r>
          </a:p>
        </p:txBody>
      </p:sp>
    </p:spTree>
    <p:extLst>
      <p:ext uri="{BB962C8B-B14F-4D97-AF65-F5344CB8AC3E}">
        <p14:creationId xmlns:p14="http://schemas.microsoft.com/office/powerpoint/2010/main" val="129320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74320"/>
            <a:ext cx="6309360" cy="730615"/>
          </a:xfrm>
        </p:spPr>
        <p:txBody>
          <a:bodyPr wrap="square"/>
          <a:lstStyle/>
          <a:p>
            <a:r>
              <a:rPr sz="2800" dirty="0" err="1"/>
              <a:t>Что</a:t>
            </a:r>
            <a:r>
              <a:rPr sz="2800" dirty="0"/>
              <a:t> </a:t>
            </a:r>
            <a:r>
              <a:rPr sz="2800" dirty="0" err="1"/>
              <a:t>такое</a:t>
            </a:r>
            <a:r>
              <a:rPr sz="2800" dirty="0"/>
              <a:t> </a:t>
            </a:r>
            <a:r>
              <a:rPr sz="2800" dirty="0" err="1"/>
              <a:t>персональные</a:t>
            </a:r>
            <a:r>
              <a:rPr sz="2800" dirty="0"/>
              <a:t> </a:t>
            </a:r>
            <a:r>
              <a:rPr sz="2800" dirty="0" err="1"/>
              <a:t>данные</a:t>
            </a:r>
            <a:r>
              <a:rPr sz="2800" dirty="0"/>
              <a:t>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228600" y="228600"/>
            <a:ext cx="1280160" cy="1170432"/>
          </a:xfrm>
        </p:spPr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Персональные данные: определение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7772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400" b="1" dirty="0" err="1">
                <a:solidFill>
                  <a:srgbClr val="3B3B3B"/>
                </a:solidFill>
                <a:latin typeface="Roboto"/>
              </a:rPr>
              <a:t>Любая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информация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,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относящаяся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к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прямо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косвенно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определённому</a:t>
            </a:r>
            <a:endParaRPr sz="1400" b="1" dirty="0">
              <a:solidFill>
                <a:srgbClr val="3B3B3B"/>
              </a:solidFill>
              <a:latin typeface="Roboto"/>
            </a:endParaRPr>
          </a:p>
          <a:p>
            <a:pPr algn="ctr">
              <a:spcAft>
                <a:spcPts val="0"/>
              </a:spcAft>
            </a:pPr>
            <a:r>
              <a:rPr sz="1400" b="1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определяемому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физическому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лицу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(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субъекту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персональных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8138160" cy="365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п. 1 ст. 3 Федерального закона от 27.07.2006 № 152-ФЗ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514600"/>
            <a:ext cx="8138160" cy="21945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Три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вывода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,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которые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важнее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самого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определения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Закон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содержит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закрытого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перечня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Персональными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данными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является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всё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что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позволяет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выйти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конкретного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человека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прямо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совокупности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другими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сведениями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Отсутствие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Ф.И.О.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ничего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решает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Идентификатор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без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имени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(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хеш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cookie, ID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заказа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)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остаётся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персональными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данными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если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нему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можно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выделить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человека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Оценка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совокупности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Один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MAC-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адрес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ПД. MAC-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адрес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плюс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геолокация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cookie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уже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ПД.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Почему это касается любого стартапа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56692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B3B3B"/>
                </a:solidFill>
                <a:latin typeface="Roboto"/>
              </a:rPr>
              <a:t>Обязанности оператора возникают не с выручкой, а с первым же e-mail в форме на сайте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874519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57400"/>
            <a:ext cx="3840480" cy="23774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Вы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уже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оператор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,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если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: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сайте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есть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форма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обратной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связи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подписки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наняли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первого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сотрудника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подрядчика-физлицо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продукте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есть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регистрация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пользователя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ведёте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CRM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базу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лидов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используете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Яндекс.Метрику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иную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аналитику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0" y="2057400"/>
            <a:ext cx="0" cy="237744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2040" y="2057400"/>
            <a:ext cx="3840480" cy="13983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Что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это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значит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на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практике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: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подать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уведомление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Роскомнадзор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начала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обработки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иметь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правовое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основание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каждую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цель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обработки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опубликовать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политику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назначить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ответственного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хранить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россиян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базах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территории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РФ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Что практика относит к персональным данным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Файлы cookie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850" b="0" i="1">
                <a:solidFill>
                  <a:srgbClr val="777777"/>
                </a:solidFill>
                <a:latin typeface="Roboto"/>
              </a:rPr>
              <a:t>Постановление мирового судьи по делу № 5-1176/2023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Адрес электронной почты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850" b="0" i="1">
                <a:solidFill>
                  <a:srgbClr val="777777"/>
                </a:solidFill>
                <a:latin typeface="Roboto"/>
              </a:rPr>
              <a:t>Письмо Минцифры России от 17.03.2022 № П25-5623-ОГ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 dirty="0" err="1">
                <a:solidFill>
                  <a:srgbClr val="191919"/>
                </a:solidFill>
                <a:latin typeface="Roboto"/>
              </a:rPr>
              <a:t>Данные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Яндекс.Метрики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и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Google Analytics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850" b="0" i="1" dirty="0" err="1">
                <a:solidFill>
                  <a:srgbClr val="777777"/>
                </a:solidFill>
                <a:latin typeface="Roboto"/>
              </a:rPr>
              <a:t>Письмо</a:t>
            </a:r>
            <a:r>
              <a:rPr sz="85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850" b="0" i="1" dirty="0" err="1">
                <a:solidFill>
                  <a:srgbClr val="777777"/>
                </a:solidFill>
                <a:latin typeface="Roboto"/>
              </a:rPr>
              <a:t>Минцифры</a:t>
            </a:r>
            <a:r>
              <a:rPr sz="85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850" b="0" i="1" dirty="0" err="1">
                <a:solidFill>
                  <a:srgbClr val="777777"/>
                </a:solidFill>
                <a:latin typeface="Roboto"/>
              </a:rPr>
              <a:t>России</a:t>
            </a:r>
            <a:r>
              <a:rPr sz="85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850" b="0" i="1" dirty="0" err="1">
                <a:solidFill>
                  <a:srgbClr val="777777"/>
                </a:solidFill>
                <a:latin typeface="Roboto"/>
              </a:rPr>
              <a:t>от</a:t>
            </a:r>
            <a:r>
              <a:rPr sz="850" b="0" i="1" dirty="0">
                <a:solidFill>
                  <a:srgbClr val="777777"/>
                </a:solidFill>
                <a:latin typeface="Roboto"/>
              </a:rPr>
              <a:t> 12.05.2025 № П25-44929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005840"/>
            <a:ext cx="0" cy="242316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2040" y="1005840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История заказов даже без Ф.И.О. — основа для профилирования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850" b="0" i="1">
                <a:solidFill>
                  <a:srgbClr val="777777"/>
                </a:solidFill>
                <a:latin typeface="Roboto"/>
              </a:rPr>
              <a:t>Семинар Роскомнадзора от 26.11.2020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74519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Хеш-ID с историей запросов и просмотров для адресной рекламы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850" b="0" i="1">
                <a:solidFill>
                  <a:srgbClr val="777777"/>
                </a:solidFill>
                <a:latin typeface="Roboto"/>
              </a:rPr>
              <a:t>13 ААС от 01.07.2016 по делу № А56-6698/2016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43200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Информация о соединениях и трафике абонента без его имени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850" b="0" i="1">
                <a:solidFill>
                  <a:srgbClr val="777777"/>
                </a:solidFill>
                <a:latin typeface="Roboto"/>
              </a:rPr>
              <a:t>9 ААС от 23.05.2016 по делу № А40-14902/16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361188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3794760"/>
            <a:ext cx="3840480" cy="10058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 dirty="0" err="1">
                <a:solidFill>
                  <a:srgbClr val="191919"/>
                </a:solidFill>
                <a:latin typeface="Roboto"/>
              </a:rPr>
              <a:t>Само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по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себе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не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относится</a:t>
            </a:r>
            <a:endParaRPr sz="1250" b="1" i="0" dirty="0">
              <a:solidFill>
                <a:srgbClr val="191919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 dirty="0">
                <a:solidFill>
                  <a:srgbClr val="3B3B3B"/>
                </a:solidFill>
                <a:latin typeface="Roboto"/>
              </a:rPr>
              <a:t>MAC-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адрес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устройства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Но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совокупности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геолокацией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cookie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он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становится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персональными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данными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3794760"/>
            <a:ext cx="0" cy="96012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92040" y="3794760"/>
            <a:ext cx="3840480" cy="84946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 dirty="0" err="1">
                <a:solidFill>
                  <a:srgbClr val="191919"/>
                </a:solidFill>
                <a:latin typeface="Roboto"/>
              </a:rPr>
              <a:t>Главный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критерий</a:t>
            </a:r>
            <a:endParaRPr sz="1250" b="1" i="0" dirty="0">
              <a:solidFill>
                <a:srgbClr val="191919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 dirty="0" err="1">
                <a:solidFill>
                  <a:srgbClr val="3B3B3B"/>
                </a:solidFill>
                <a:latin typeface="Roboto"/>
              </a:rPr>
              <a:t>Если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совокупность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необходима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достаточна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для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идентификации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лица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—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это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персональные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данные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endParaRPr lang="ru-RU" sz="1050" b="0" i="0" dirty="0">
              <a:solidFill>
                <a:srgbClr val="3B3B3B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 dirty="0">
                <a:solidFill>
                  <a:srgbClr val="3B3B3B"/>
                </a:solidFill>
                <a:latin typeface="Roboto"/>
              </a:rPr>
              <a:t>(АС </a:t>
            </a:r>
            <a:r>
              <a:rPr lang="ru-RU" sz="1050" b="0" i="0" dirty="0">
                <a:solidFill>
                  <a:srgbClr val="3B3B3B"/>
                </a:solidFill>
                <a:latin typeface="Roboto"/>
              </a:rPr>
              <a:t>МО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от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30.03.2023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по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делу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№ А40-139096/2022).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Категории персональных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23317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Обычные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1005840"/>
            <a:ext cx="56692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Ф.И.О., контакты, должность, история покупок. Базовый режим обработки.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92224"/>
            <a:ext cx="23317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Специальные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792224"/>
            <a:ext cx="56692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Раса, национальность, политические взгляды, убеждения, здоровье, интимная жизнь. Обработка запрещена, кроме исчерпывающего перечня случаев (ст.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78608"/>
            <a:ext cx="23317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Биометрические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578608"/>
            <a:ext cx="56692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Данные, характеризующие физиологические особенности и позволяющие установить личность. Требуют письменного согласия (ст. 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64991"/>
            <a:ext cx="2176906" cy="38779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 dirty="0" err="1">
                <a:solidFill>
                  <a:srgbClr val="191919"/>
                </a:solidFill>
                <a:latin typeface="Roboto"/>
              </a:rPr>
              <a:t>Разрешённые</a:t>
            </a:r>
            <a:r>
              <a:rPr sz="12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00" b="1" i="0" dirty="0" err="1">
                <a:solidFill>
                  <a:srgbClr val="191919"/>
                </a:solidFill>
                <a:latin typeface="Roboto"/>
              </a:rPr>
              <a:t>субъектом</a:t>
            </a:r>
            <a:r>
              <a:rPr sz="12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00" b="1" i="0" dirty="0" err="1">
                <a:solidFill>
                  <a:srgbClr val="191919"/>
                </a:solidFill>
                <a:latin typeface="Roboto"/>
              </a:rPr>
              <a:t>для</a:t>
            </a:r>
            <a:r>
              <a:rPr sz="12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00" b="1" i="0" dirty="0" err="1">
                <a:solidFill>
                  <a:srgbClr val="191919"/>
                </a:solidFill>
                <a:latin typeface="Roboto"/>
              </a:rPr>
              <a:t>распространения</a:t>
            </a:r>
            <a:endParaRPr sz="1200" b="1" i="0" dirty="0">
              <a:solidFill>
                <a:srgbClr val="191919"/>
              </a:solidFill>
              <a:latin typeface="Robo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3364991"/>
            <a:ext cx="56692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 dirty="0" err="1">
                <a:solidFill>
                  <a:srgbClr val="3B3B3B"/>
                </a:solidFill>
                <a:latin typeface="Roboto"/>
              </a:rPr>
              <a:t>Отдельное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согласие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по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форме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Приказа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Роскомнадзора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от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24.02.2021 № 18.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Несоблюдение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формы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=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отсутствие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согласия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51376"/>
            <a:ext cx="23317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Общедоступные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151376"/>
            <a:ext cx="5669280" cy="41857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 dirty="0" err="1">
                <a:solidFill>
                  <a:srgbClr val="3B3B3B"/>
                </a:solidFill>
                <a:latin typeface="Roboto"/>
              </a:rPr>
              <a:t>Формируются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только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письменного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согласия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. </a:t>
            </a:r>
            <a:endParaRPr lang="ru-RU" sz="1050" b="0" i="0" dirty="0">
              <a:solidFill>
                <a:srgbClr val="3B3B3B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 dirty="0" err="1">
                <a:solidFill>
                  <a:srgbClr val="3B3B3B"/>
                </a:solidFill>
                <a:latin typeface="Roboto"/>
              </a:rPr>
              <a:t>Публикация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соцсети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делает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их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общедоступными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50" b="0" i="0" dirty="0" err="1">
                <a:solidFill>
                  <a:srgbClr val="3B3B3B"/>
                </a:solidFill>
                <a:latin typeface="Roboto"/>
              </a:rPr>
              <a:t>автоматически</a:t>
            </a:r>
            <a:r>
              <a:rPr sz="1050" b="0" i="0" dirty="0">
                <a:solidFill>
                  <a:srgbClr val="3B3B3B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Что закон считает «обработкой»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5029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B3B3B"/>
                </a:solidFill>
                <a:latin typeface="Roboto"/>
              </a:rPr>
              <a:t>Любое действие с персональными данными — с автоматизацией или без неё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8138160" cy="822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3B3B3B"/>
                </a:solidFill>
                <a:latin typeface="Roboto"/>
              </a:rPr>
              <a:t>сбор · запись · систематизация · накопление · хранение · уточнение (обновление, изменение) · извлечение · использование · передача (распространение, предоставление, доступ) · обезличивание · блокирование · удаление · уничтожение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260604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788920"/>
            <a:ext cx="3840480" cy="19202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Различайте два способа передачи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Распространение — раскрытие неопределённому кругу лиц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Предоставление — раскрытие определённому лицу или кругу лиц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788920"/>
            <a:ext cx="0" cy="192024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92040" y="2788920"/>
            <a:ext cx="3840480" cy="19202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Удаление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≠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уничтожение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удалении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исключаются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из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системы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носитель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сохраняется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Уничтожение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делает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восстановление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невозможным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подтверждается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актом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выгрузкой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из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журнала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регистрации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событий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900" b="0" i="1" dirty="0" err="1">
                <a:solidFill>
                  <a:srgbClr val="777777"/>
                </a:solidFill>
                <a:latin typeface="Roboto"/>
              </a:rPr>
              <a:t>Ответ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Минцифры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России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от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07.05.2024 № П25-11679-ОГ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74320"/>
            <a:ext cx="6309360" cy="2560320"/>
          </a:xfrm>
        </p:spPr>
        <p:txBody>
          <a:bodyPr wrap="square"/>
          <a:lstStyle/>
          <a:p>
            <a:r>
              <a:rPr sz="2800"/>
              <a:t>Оператор и обработчик:</a:t>
            </a:r>
          </a:p>
          <a:p>
            <a:r>
              <a:rPr sz="2800"/>
              <a:t>кто есть кто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228600" y="228600"/>
            <a:ext cx="1280160" cy="1170432"/>
          </a:xfrm>
        </p:spPr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Оператор и обработчик: два разных статуса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3840480" cy="1417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1584D"/>
                </a:solidFill>
                <a:latin typeface="Roboto"/>
              </a:rPr>
              <a:t>Оператор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Лицо, самостоятельно или совместно с другими организующее и (или) осуществляющее обработку персональных данных, а также определяющее цели обработки, состав данных и совершаемые с ними действия.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п. 2 ст. 3 Закона о персональных данных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960120"/>
            <a:ext cx="0" cy="141732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92040" y="960120"/>
            <a:ext cx="3840480" cy="1417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1584D"/>
                </a:solidFill>
                <a:latin typeface="Roboto"/>
              </a:rPr>
              <a:t>Обработчик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Лицо, осуществляющее обработку персональных данных по поручению оператора. Самостоятельной цели обработки у него нет.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ч. 3 ст. 6 Закона о персональных данных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251460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697480"/>
            <a:ext cx="3840480" cy="20116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191919"/>
                </a:solidFill>
                <a:latin typeface="Roboto"/>
              </a:rPr>
              <a:t>Что важно про статус оператора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Ключевой признак — вы определяете цель обработки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Статус не зависит от размера бизнеса, штата и оборота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Статус нельзя «передать» подрядчику договором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697480"/>
            <a:ext cx="0" cy="201168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92040" y="2697480"/>
            <a:ext cx="3840480" cy="20116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1" i="0">
                <a:solidFill>
                  <a:srgbClr val="191919"/>
                </a:solidFill>
                <a:latin typeface="Roboto"/>
              </a:rPr>
              <a:t>Что важно про статус обработчика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Действует строго в рамках поручения оператора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 2023 года тоже подаёт уведомление в Роскомнадзор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Начал использовать данные в своих целях — стал самостоятельным оператором со всеми обязанностями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Поручение на обработку: что должно быть в договоре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3840480" cy="3566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Обязательные условия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Перечень действий с персональными данными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Цели обработки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Обязанность соблюдать конфиденциальность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Обязанность обеспечивать безопасность данных при обработке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Требования к защите обрабатываемых данных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Срок обработки и порядок уничтожения либо возврата данных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987552"/>
            <a:ext cx="0" cy="356616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92040" y="987552"/>
            <a:ext cx="3840480" cy="3566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О чём забывают чаще всего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Указать обработчика в согласии субъекта — его наименование и адрес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Запретить или урегулировать субпоручение (подрядчик подрядчика)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Прописать порядок уведомления оператора об инциденте — ваши 24 часа начинают течь с момента, когда узнали вы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Получить заверения о законности сбора, если данные приходят к вам от третьего лица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Кто перед кем отвечает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56692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400" b="1" dirty="0" err="1">
                <a:solidFill>
                  <a:srgbClr val="3B3B3B"/>
                </a:solidFill>
                <a:latin typeface="Roboto"/>
              </a:rPr>
              <a:t>Перед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субъектом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персональных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отвечает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оператор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endParaRPr lang="ru-RU" sz="1400" b="1" dirty="0">
              <a:solidFill>
                <a:srgbClr val="3B3B3B"/>
              </a:solidFill>
              <a:latin typeface="Roboto"/>
            </a:endParaRPr>
          </a:p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3B3B3B"/>
                </a:solidFill>
                <a:latin typeface="Roboto"/>
              </a:rPr>
              <a:t>—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даже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если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виноват</a:t>
            </a:r>
            <a:r>
              <a:rPr sz="14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400" b="1" dirty="0" err="1">
                <a:solidFill>
                  <a:srgbClr val="3B3B3B"/>
                </a:solidFill>
                <a:latin typeface="Roboto"/>
              </a:rPr>
              <a:t>подрядчик</a:t>
            </a:r>
            <a:endParaRPr sz="1400" b="1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82880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3840480" cy="1828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Оператор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Отвечает перед субъектом за действия обработчика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Обязан выбрать обработчика, способного обеспечить безопасность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Уведомляет Роскомнадзор об утечке, в том числе произошедшей у подрядчика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011680"/>
            <a:ext cx="0" cy="182880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2040" y="2011680"/>
            <a:ext cx="3840480" cy="1828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Обработчик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Отвечает перед оператором — в объёме, который вы пропишете в договоре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 2022 года иностранный обработчик отвечает и перед субъектом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8138160" cy="7772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3B3B3B"/>
                </a:solidFill>
                <a:latin typeface="Roboto"/>
              </a:rPr>
              <a:t>«Доводы жалобы о невиновности Учреждения в неправомерном доступе к персональным данным своих сотрудников, который произошёл через доступ злоумышленника к инфраструктуре подрядной организации, не обеспечившей защиту этих данных, несостоятельны»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Постановление Верховного Суда РФ от 21.01.2026 № 5-АД25-119-К2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74320"/>
            <a:ext cx="6309360" cy="2560320"/>
          </a:xfrm>
        </p:spPr>
        <p:txBody>
          <a:bodyPr wrap="square"/>
          <a:lstStyle/>
          <a:p>
            <a:r>
              <a:rPr sz="2800"/>
              <a:t>Основания обработки</a:t>
            </a:r>
          </a:p>
          <a:p>
            <a:r>
              <a:rPr sz="2800"/>
              <a:t>и требования к согласию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228600" y="228600"/>
            <a:ext cx="1280160" cy="1170432"/>
          </a:xfrm>
        </p:spPr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Шесть оснований обработки, которые нужны стартапу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1584D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56616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Согласие субъекта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Роскомнадзор рассматривает его как основной способ легитимировать обработку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1584D"/>
                </a:solidFill>
                <a:latin typeface="Robot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356616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Исполнение договора с субъектом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72768"/>
            <a:ext cx="393192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Или заключение договора по его инициативе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1584D"/>
                </a:solidFill>
                <a:latin typeface="Robot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39696"/>
            <a:ext cx="356616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Исполнение обязанностей в силу закона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39696"/>
            <a:ext cx="393192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Кадровый учёт, бухгалтерия, налоговая отчётность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06624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1584D"/>
                </a:solidFill>
                <a:latin typeface="Robot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06624"/>
            <a:ext cx="356616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Законные интересы оператора или третьих лиц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06624"/>
            <a:ext cx="393192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Если не нарушаются права и свободы субъекта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73552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1584D"/>
                </a:solidFill>
                <a:latin typeface="Roboto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73552"/>
            <a:ext cx="356616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Защита жизни и здоровья субъекта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73552"/>
            <a:ext cx="393192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Когда получить согласие невозможно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1584D"/>
                </a:solidFill>
                <a:latin typeface="Roboto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356616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Научные и статистические исследования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840480"/>
            <a:ext cx="393192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При обязательном обезличивании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8138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1" dirty="0" err="1">
                <a:solidFill>
                  <a:srgbClr val="777777"/>
                </a:solidFill>
                <a:latin typeface="Roboto"/>
              </a:rPr>
              <a:t>ч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1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ст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6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Закона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персональных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данных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Согласие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не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«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сильнее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»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других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оснований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—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но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именно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его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проще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всего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проверить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и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оспорить</a:t>
            </a:r>
            <a:endParaRPr sz="900" b="0" i="1" dirty="0">
              <a:solidFill>
                <a:srgbClr val="777777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Пять требований к согласию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21031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Конкретность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87552"/>
            <a:ext cx="58978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Согласие должно вытекать из понятных явных действий человека, а не из молчания или бездействия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21031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Информированность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0"/>
            <a:ext cx="58978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До дачи согласия субъект имеет всю информацию о том, как его данные будут обрабатываться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04288"/>
            <a:ext cx="21031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Сознательность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304288"/>
            <a:ext cx="58978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Согласие обдуманное, как результат полноценного волеизъявления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62656"/>
            <a:ext cx="21031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Свобода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62656"/>
            <a:ext cx="58978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Нельзя понуждать к даче согласия — человек действует в своих интересах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21024"/>
            <a:ext cx="210312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91919"/>
                </a:solidFill>
                <a:latin typeface="Roboto"/>
              </a:rPr>
              <a:t>Однозначность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621024"/>
            <a:ext cx="589788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Нельзя получить согласие «мимоходом» в рамках другого действия человека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4370832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3B3B3B"/>
                </a:solidFill>
                <a:latin typeface="Roboto"/>
              </a:rPr>
              <a:t>Если Роскомнадзор сочтёт, что согласие не отвечает хотя бы одному требованию, это означает, что надлежащего правового основания у оператора не было никогда.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Отдельное согласие: правило с 1 сентября 2025 года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7132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B3B3B"/>
                </a:solidFill>
                <a:latin typeface="Roboto"/>
              </a:rPr>
              <a:t>Согласие на обработку персональных данных оформляется отдельно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3B3B3B"/>
                </a:solidFill>
                <a:latin typeface="Roboto"/>
              </a:rPr>
              <a:t>от иных информации и документов, которые подписывает субъект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96596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148840"/>
            <a:ext cx="3840480" cy="21031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Позиция Роскомнадзора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Требование не соблюдается при включении согласия в пакет документов, в том числе при подписании электронной подписью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Нужно подтвердить факт ознакомления субъекта с согласием и его принятие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Комментарий РКН от 27.08.2025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148840"/>
            <a:ext cx="0" cy="210312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2040" y="2148840"/>
            <a:ext cx="3840480" cy="21031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Цена вопроса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Граждане — до 15 тыс. руб.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Должностные лица — до 300 тыс. руб.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Юридические лица — до 700 тыс. руб.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Повторно — для юрлиц от 1 до 1,5 млн руб.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ч. 2 и 2.1 ст. 13.11 КоАП РФ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lang="ru-RU" sz="2000" dirty="0"/>
              <a:t>Как правильно сделать ф</a:t>
            </a:r>
            <a:r>
              <a:rPr sz="2000" dirty="0" err="1"/>
              <a:t>орм</a:t>
            </a:r>
            <a:r>
              <a:rPr lang="ru-RU" sz="2000" dirty="0"/>
              <a:t>у</a:t>
            </a:r>
            <a:r>
              <a:rPr sz="2000" dirty="0"/>
              <a:t> </a:t>
            </a:r>
            <a:r>
              <a:rPr sz="2000" dirty="0" err="1"/>
              <a:t>на</a:t>
            </a:r>
            <a:r>
              <a:rPr sz="2000" dirty="0"/>
              <a:t> </a:t>
            </a:r>
            <a:r>
              <a:rPr sz="2000" dirty="0" err="1"/>
              <a:t>сайте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5029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300" b="0" dirty="0">
                <a:solidFill>
                  <a:srgbClr val="3B3B3B"/>
                </a:solidFill>
                <a:latin typeface="Roboto"/>
              </a:rPr>
              <a:t>☐ 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Я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даю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u="sng" dirty="0" err="1">
                <a:solidFill>
                  <a:srgbClr val="3B3B3B"/>
                </a:solidFill>
                <a:latin typeface="Roboto"/>
              </a:rPr>
              <a:t>согласие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обработку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персональных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соответствии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B3B3B"/>
                </a:solidFill>
                <a:latin typeface="Roboto"/>
              </a:rPr>
              <a:t>с</a:t>
            </a:r>
            <a:r>
              <a:rPr sz="1300" b="0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0" u="sng" dirty="0" err="1">
                <a:solidFill>
                  <a:srgbClr val="3B3B3B"/>
                </a:solidFill>
                <a:latin typeface="Roboto"/>
              </a:rPr>
              <a:t>Политикой</a:t>
            </a:r>
            <a:endParaRPr sz="1300" b="0" u="sng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78308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965960"/>
            <a:ext cx="3840480" cy="1567609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Обязательные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условия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Галочка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предустановлена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Без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галочки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форма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отправляется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Слово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«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Политика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»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гиперссылка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документ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подвале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сайта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Слово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«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согласие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»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гиперссылка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отдельный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текст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согласия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0" y="1965960"/>
            <a:ext cx="0" cy="265176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2040" y="1965960"/>
            <a:ext cx="3840480" cy="1613775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Соразмерность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Содержание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объём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обрабатываемых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должны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соответствовать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заявленным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целям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быть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избыточными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100" b="0" i="0" dirty="0">
                <a:solidFill>
                  <a:srgbClr val="3B3B3B"/>
                </a:solidFill>
                <a:latin typeface="Roboto"/>
              </a:rPr>
              <a:t>Например, е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для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обратного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звонка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нужен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только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телефон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просите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дату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рождения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паспорт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900" b="0" i="1" dirty="0" err="1">
                <a:solidFill>
                  <a:srgbClr val="777777"/>
                </a:solidFill>
                <a:latin typeface="Roboto"/>
              </a:rPr>
              <a:t>ч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5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ст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5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Закона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персональных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данных</a:t>
            </a:r>
            <a:endParaRPr sz="900" b="0" i="1" dirty="0">
              <a:solidFill>
                <a:srgbClr val="777777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74320"/>
            <a:ext cx="6309360" cy="2560320"/>
          </a:xfrm>
        </p:spPr>
        <p:txBody>
          <a:bodyPr wrap="square"/>
          <a:lstStyle/>
          <a:p>
            <a:r>
              <a:rPr sz="2800"/>
              <a:t>Уведомление Роскомнадзора</a:t>
            </a:r>
          </a:p>
          <a:p>
            <a:r>
              <a:rPr sz="2800"/>
              <a:t>и документы оператора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228600" y="228600"/>
            <a:ext cx="1280160" cy="1170432"/>
          </a:xfrm>
        </p:spPr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Уведомление об обработке: кто подаёт и когда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56692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B3B3B"/>
                </a:solidFill>
                <a:latin typeface="Roboto"/>
              </a:rPr>
              <a:t>Оператор обязан уведомить Роскомнадзор до начала обработки персональных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27632"/>
            <a:ext cx="81381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ч. 1 ст. 22 Закона о персональных данных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96596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148840"/>
            <a:ext cx="3840480" cy="23774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Кто подаёт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Практически каждый оператор — с 2022 года круг исключений минимален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Обработчики тоже подают уведомление (позиция РКН от 01.03.2023)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Не подавать можно, только если обработка ведётся на бумаге без средств автоматизации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148840"/>
            <a:ext cx="0" cy="237744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92040" y="2148840"/>
            <a:ext cx="3840480" cy="23774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Частая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ошибка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с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датой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 err="1">
                <a:solidFill>
                  <a:srgbClr val="3B3B3B"/>
                </a:solidFill>
                <a:latin typeface="Roboto"/>
              </a:rPr>
              <a:t>Дата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начала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обработки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уведомлении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может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быть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раньше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даты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подачи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самого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уведомления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Указание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«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задним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числом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»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суды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расценивают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как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нарушение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900" b="0" i="1" dirty="0" err="1">
                <a:solidFill>
                  <a:srgbClr val="777777"/>
                </a:solidFill>
                <a:latin typeface="Roboto"/>
              </a:rPr>
              <a:t>Решение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Ленинского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районного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суда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г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.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Перми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от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01.08.2025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по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</a:t>
            </a:r>
            <a:r>
              <a:rPr sz="900" b="0" i="1" dirty="0" err="1">
                <a:solidFill>
                  <a:srgbClr val="777777"/>
                </a:solidFill>
                <a:latin typeface="Roboto"/>
              </a:rPr>
              <a:t>делу</a:t>
            </a:r>
            <a:r>
              <a:rPr sz="900" b="0" i="1" dirty="0">
                <a:solidFill>
                  <a:srgbClr val="777777"/>
                </a:solidFill>
                <a:latin typeface="Roboto"/>
              </a:rPr>
              <a:t> № 12-633/2025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Уведомление: на что смотрят и чем рискуете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4114800" cy="190616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Четыре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зоны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внимания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Количество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качество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целей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обработки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Цели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должны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индивидуализировать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именно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вашу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компанию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Организационные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правовые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технические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меры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br>
              <a:rPr lang="ru-RU" sz="1100" b="0" i="0" dirty="0">
                <a:solidFill>
                  <a:srgbClr val="3B3B3B"/>
                </a:solidFill>
                <a:latin typeface="Roboto"/>
              </a:rPr>
            </a:br>
            <a:r>
              <a:rPr sz="1100" b="0" i="0" dirty="0" err="1">
                <a:solidFill>
                  <a:srgbClr val="3B3B3B"/>
                </a:solidFill>
                <a:latin typeface="Roboto"/>
              </a:rPr>
              <a:t>Берутся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из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18.1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19</a:t>
            </a:r>
            <a:endParaRPr lang="ru-RU" sz="110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Сведения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обеспечении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безопасности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Основа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Постановление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Правительства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РФ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01.11.2012 № 1119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Состав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базы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Отсутствие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облака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выглядит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нереалистично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800600" y="987552"/>
            <a:ext cx="0" cy="292608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20640" y="987552"/>
            <a:ext cx="3566160" cy="29260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Тест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на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плохое</a:t>
            </a:r>
            <a:r>
              <a:rPr sz="130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300" b="1" i="0" dirty="0" err="1">
                <a:solidFill>
                  <a:srgbClr val="191919"/>
                </a:solidFill>
                <a:latin typeface="Roboto"/>
              </a:rPr>
              <a:t>уведомление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Целей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всего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5–10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целям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невозможно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отличить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IT-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компанию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завода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Консультант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готовил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уведомление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изучая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специфику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деятельности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0" y="4041648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4206240"/>
            <a:ext cx="8138160" cy="6400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Штраф за неподачу или просрочку: граждане 5–10 тыс., должностные лица 30–50 тыс., юрлица 100–300 тыс. руб. (ч. 10 ст. 13.11 КоАП). При первом нарушении, отсутствии вреда и оперативном исправлении суды заменяют штраф предупреждением.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Базовый пакет документов оператора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420624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Политика в отношении обработки персональных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987552"/>
            <a:ext cx="3749039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Публикуется в открытом доступе, для сайта — в подвале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90472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27632"/>
            <a:ext cx="420624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Приказ о назначении ответственного за организацию обработки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627632"/>
            <a:ext cx="3749039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Плюс должностная инструкция ответственного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130552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267712"/>
            <a:ext cx="420624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Локальные акты об обработке и защите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267712"/>
            <a:ext cx="3749039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Правила доступа, перечень ИСПДн, модель угроз, перечень мест хранения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2770632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2907791"/>
            <a:ext cx="420624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Формы согласий по каждой цели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907791"/>
            <a:ext cx="3749039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Отдельно от прочих документов, с 01.09.2025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3410711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547872"/>
            <a:ext cx="420624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Договоры поручения с обработчиками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547872"/>
            <a:ext cx="3749039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И соглашения о передаче с другими операторами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4050791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4187952"/>
            <a:ext cx="4206240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 dirty="0" err="1">
                <a:solidFill>
                  <a:srgbClr val="191919"/>
                </a:solidFill>
                <a:latin typeface="Roboto"/>
              </a:rPr>
              <a:t>Журналы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и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акты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уничтожения</a:t>
            </a:r>
            <a:endParaRPr sz="1150" b="1" i="0" dirty="0">
              <a:solidFill>
                <a:srgbClr val="191919"/>
              </a:solidFill>
              <a:latin typeface="Robot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2040" y="4187952"/>
            <a:ext cx="3749039" cy="5029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Акт об уничтожении плюс выгрузка из журнала регистрации событий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4690872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Политика обработки персональных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4114800" cy="3108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Что должна содержать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Сведения об операторе: наименование и контакты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Цели и основания обработки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Перечень обрабатываемых данных и категории субъектов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Порядок и условия обработки, включая передачу третьим лицам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Сроки хранения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Права пользователей и порядок их реализации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Меры по защите персональных данных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ст. 18.1 Закона о персональных данных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800600" y="987552"/>
            <a:ext cx="0" cy="310896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20640" y="987552"/>
            <a:ext cx="3566160" cy="3108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Признак плохой политики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Её составлял человек, который читал только закон, — и она подходит любой компании в стране.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Штраф за отсутствие политики в открытом доступе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Граждане — 1,5–3 тыс. руб.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Должностные лица — 6–12 тыс. руб.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ИП — 10–20 тыс. руб.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Юридические лица — 30–60 тыс. руб.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ч. 3 ст. 13.11 КоАП РФ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Чек-лист аудита 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2743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1584D"/>
                </a:solidFill>
                <a:latin typeface="Roboto"/>
              </a:rPr>
              <a:t>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Cookie и метрические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1005840"/>
            <a:ext cx="3749039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Проверьте, что реально устанавливается на страницах, и сверьтесь с текстом политики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72768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664208"/>
            <a:ext cx="2743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1584D"/>
                </a:solidFill>
                <a:latin typeface="Roboto"/>
              </a:rP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 dirty="0" err="1">
                <a:solidFill>
                  <a:srgbClr val="191919"/>
                </a:solidFill>
                <a:latin typeface="Roboto"/>
              </a:rPr>
              <a:t>Плашка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cookie-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баннера</a:t>
            </a:r>
            <a:endParaRPr sz="1150" b="1" i="0" dirty="0">
              <a:solidFill>
                <a:srgbClr val="191919"/>
              </a:solidFill>
              <a:latin typeface="Robo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92040" y="1664208"/>
            <a:ext cx="3749039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Две равнозначные кнопки и реальное управление загрузкой счётчиков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231136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322576"/>
            <a:ext cx="2743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1584D"/>
                </a:solidFill>
                <a:latin typeface="Roboto"/>
              </a:rP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22576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 dirty="0" err="1">
                <a:solidFill>
                  <a:srgbClr val="191919"/>
                </a:solidFill>
                <a:latin typeface="Roboto"/>
              </a:rPr>
              <a:t>Все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точки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сбора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данных</a:t>
            </a:r>
            <a:endParaRPr sz="1150" b="1" i="0" dirty="0">
              <a:solidFill>
                <a:srgbClr val="191919"/>
              </a:solidFill>
              <a:latin typeface="Robo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92040" y="2322576"/>
            <a:ext cx="3749039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Формы обратной связи и заявок, регистрация, личный кабинет, новости с фото, раздел «команда»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2889504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980944"/>
            <a:ext cx="2743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1584D"/>
                </a:solidFill>
                <a:latin typeface="Roboto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80944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Соразмерность полей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980944"/>
            <a:ext cx="3749039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Каждое поле формы должно быть обосновано целью обработки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3547872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639311"/>
            <a:ext cx="2743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1584D"/>
                </a:solidFill>
                <a:latin typeface="Roboto"/>
              </a:rP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39311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Политика в подвале сайта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639311"/>
            <a:ext cx="3749039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Плюс отдельная действующая ссылка на текст согласия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4206240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4297679"/>
            <a:ext cx="27432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1584D"/>
                </a:solidFill>
                <a:latin typeface="Roboto"/>
              </a:rP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97679"/>
            <a:ext cx="3840480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 dirty="0" err="1">
                <a:solidFill>
                  <a:srgbClr val="191919"/>
                </a:solidFill>
                <a:latin typeface="Roboto"/>
              </a:rPr>
              <a:t>Раздел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«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команда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»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и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фото</a:t>
            </a:r>
            <a:r>
              <a:rPr sz="11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150" b="1" i="0" dirty="0" err="1">
                <a:solidFill>
                  <a:srgbClr val="191919"/>
                </a:solidFill>
                <a:latin typeface="Roboto"/>
              </a:rPr>
              <a:t>сотрудников</a:t>
            </a:r>
            <a:endParaRPr sz="1150" b="1" i="0" dirty="0">
              <a:solidFill>
                <a:srgbClr val="191919"/>
              </a:solidFill>
              <a:latin typeface="Robot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92040" y="4297679"/>
            <a:ext cx="3749039" cy="5486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Требует отдельного согласия на распространение по форме Приказа РКН от 24.02.2021 № 18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864607"/>
            <a:ext cx="813816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0" y="274320"/>
            <a:ext cx="6309360" cy="2560320"/>
          </a:xfrm>
        </p:spPr>
        <p:txBody>
          <a:bodyPr wrap="square"/>
          <a:lstStyle/>
          <a:p>
            <a:r>
              <a:rPr sz="2800"/>
              <a:t>Локализация</a:t>
            </a:r>
          </a:p>
          <a:p>
            <a:r>
              <a:rPr sz="2800"/>
              <a:t>и трансграничная передача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228600" y="228600"/>
            <a:ext cx="1280160" cy="1170432"/>
          </a:xfrm>
        </p:spPr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Локализация: что должно остаться в России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7132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300" b="1" dirty="0" err="1">
                <a:solidFill>
                  <a:srgbClr val="3B3B3B"/>
                </a:solidFill>
                <a:latin typeface="Roboto"/>
              </a:rPr>
              <a:t>Персональные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данные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граждан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РФ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должны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«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осесть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»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базе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территории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России</a:t>
            </a:r>
            <a:endParaRPr sz="1300" b="1" dirty="0">
              <a:solidFill>
                <a:srgbClr val="3B3B3B"/>
              </a:solidFill>
              <a:latin typeface="Roboto"/>
            </a:endParaRPr>
          </a:p>
          <a:p>
            <a:pPr algn="ctr">
              <a:spcAft>
                <a:spcPts val="0"/>
              </a:spcAft>
            </a:pPr>
            <a:r>
              <a:rPr sz="1300" b="1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только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после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этого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могут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передаваться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иностранному</a:t>
            </a:r>
            <a:r>
              <a:rPr sz="13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300" b="1" dirty="0" err="1">
                <a:solidFill>
                  <a:srgbClr val="3B3B3B"/>
                </a:solidFill>
                <a:latin typeface="Roboto"/>
              </a:rPr>
              <a:t>лицу</a:t>
            </a:r>
            <a:endParaRPr sz="1300" b="1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92024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103120"/>
            <a:ext cx="3840480" cy="21945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Действия, подлежащие локализации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Запись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Систематизация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Накопление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Хранение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Уточнение (обновление, изменение)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Извлечение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103120"/>
            <a:ext cx="0" cy="2194559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2040" y="2103120"/>
            <a:ext cx="3840480" cy="152657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191919"/>
                </a:solidFill>
                <a:latin typeface="Roboto"/>
              </a:rPr>
              <a:t>Пример</a:t>
            </a:r>
            <a:endParaRPr sz="1300" b="1" i="0" dirty="0">
              <a:solidFill>
                <a:srgbClr val="191919"/>
              </a:solidFill>
              <a:latin typeface="Roboto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 err="1">
                <a:solidFill>
                  <a:srgbClr val="3B3B3B"/>
                </a:solidFill>
                <a:latin typeface="Roboto"/>
              </a:rPr>
              <a:t>Пользователь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из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России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регистрируется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приложении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указывает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e-mail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телефон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Сначала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эти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сохраняются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сервере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России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только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потом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могут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уйти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например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иностранный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сервис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аналитики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1050" b="1" i="0" dirty="0" err="1">
                <a:solidFill>
                  <a:srgbClr val="191919"/>
                </a:solidFill>
                <a:latin typeface="Roboto"/>
              </a:rPr>
              <a:t>Штраф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: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юрлица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 1–6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млн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руб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., </a:t>
            </a:r>
            <a:br>
              <a:rPr lang="ru-RU" sz="1050" b="1" dirty="0">
                <a:solidFill>
                  <a:srgbClr val="191919"/>
                </a:solidFill>
                <a:latin typeface="Roboto"/>
              </a:rPr>
            </a:br>
            <a:r>
              <a:rPr sz="1050" b="1" i="0" dirty="0" err="1">
                <a:solidFill>
                  <a:srgbClr val="191919"/>
                </a:solidFill>
                <a:latin typeface="Roboto"/>
              </a:rPr>
              <a:t>повторно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 6–18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млн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руб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. (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ч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. 8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и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 9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ст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. 13.11 </a:t>
            </a:r>
            <a:r>
              <a:rPr sz="1050" b="1" i="0" dirty="0" err="1">
                <a:solidFill>
                  <a:srgbClr val="191919"/>
                </a:solidFill>
                <a:latin typeface="Roboto"/>
              </a:rPr>
              <a:t>КоАП</a:t>
            </a:r>
            <a:r>
              <a:rPr sz="1050" b="1" i="0" dirty="0">
                <a:solidFill>
                  <a:srgbClr val="191919"/>
                </a:solidFill>
                <a:latin typeface="Roboto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1">
                <a:solidFill>
                  <a:srgbClr val="777777"/>
                </a:solidFill>
                <a:latin typeface="Roboto"/>
              </a:rPr>
              <a:t>Регуляторы подтверждают: локализация не запрещает трансграничную передачу и не распространяется на данные, полученные не от субъектов, а от третьих лиц (разъяснения РКН от 24.03.2025 № 08-134789, Минцифры от 12.05.2025 № П25-44929)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Трансграничная передача: что это и когда возникает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0120"/>
            <a:ext cx="8138160" cy="6583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1584D"/>
            </a:solidFill>
          </a:ln>
          <a:effectLst/>
        </p:spPr>
        <p:txBody>
          <a:bodyPr wrap="square" lIns="109728" tIns="36576" rIns="109728" bIns="36576" rtlCol="0" anchor="ctr"/>
          <a:lstStyle/>
          <a:p>
            <a:pPr algn="ctr">
              <a:spcAft>
                <a:spcPts val="0"/>
              </a:spcAft>
            </a:pPr>
            <a:r>
              <a:rPr sz="1200" b="1" dirty="0" err="1">
                <a:solidFill>
                  <a:srgbClr val="3B3B3B"/>
                </a:solidFill>
                <a:latin typeface="Roboto"/>
              </a:rPr>
              <a:t>Передача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персональных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территорию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иностранного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государства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органу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власти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,</a:t>
            </a:r>
          </a:p>
          <a:p>
            <a:pPr algn="ctr">
              <a:spcAft>
                <a:spcPts val="0"/>
              </a:spcAft>
            </a:pPr>
            <a:r>
              <a:rPr sz="1200" b="1" dirty="0" err="1">
                <a:solidFill>
                  <a:srgbClr val="3B3B3B"/>
                </a:solidFill>
                <a:latin typeface="Roboto"/>
              </a:rPr>
              <a:t>иностранному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физическому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или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иностранному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юридическому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лицу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 (</a:t>
            </a:r>
            <a:r>
              <a:rPr sz="1200" b="1" dirty="0" err="1">
                <a:solidFill>
                  <a:srgbClr val="3B3B3B"/>
                </a:solidFill>
                <a:latin typeface="Roboto"/>
              </a:rPr>
              <a:t>ст</a:t>
            </a:r>
            <a:r>
              <a:rPr sz="1200" b="1" dirty="0">
                <a:solidFill>
                  <a:srgbClr val="3B3B3B"/>
                </a:solidFill>
                <a:latin typeface="Roboto"/>
              </a:rPr>
              <a:t>. 3 152-ФЗ)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874519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57400"/>
            <a:ext cx="3840480" cy="1721497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 dirty="0" err="1">
                <a:solidFill>
                  <a:srgbClr val="F1584D"/>
                </a:solidFill>
                <a:latin typeface="Roboto"/>
              </a:rPr>
              <a:t>Да</a:t>
            </a:r>
            <a:r>
              <a:rPr sz="1300" b="1" i="0" dirty="0">
                <a:solidFill>
                  <a:srgbClr val="F1584D"/>
                </a:solidFill>
                <a:latin typeface="Roboto"/>
              </a:rPr>
              <a:t>, </a:t>
            </a:r>
            <a:r>
              <a:rPr sz="1300" b="1" i="0" dirty="0" err="1">
                <a:solidFill>
                  <a:srgbClr val="F1584D"/>
                </a:solidFill>
                <a:latin typeface="Roboto"/>
              </a:rPr>
              <a:t>это</a:t>
            </a:r>
            <a:r>
              <a:rPr sz="1300" b="1" i="0" dirty="0">
                <a:solidFill>
                  <a:srgbClr val="F1584D"/>
                </a:solidFill>
                <a:latin typeface="Roboto"/>
              </a:rPr>
              <a:t> ТГП</a:t>
            </a:r>
            <a:r>
              <a:rPr lang="ru-RU" sz="1300" b="1" i="0" dirty="0">
                <a:solidFill>
                  <a:srgbClr val="F1584D"/>
                </a:solidFill>
                <a:latin typeface="Roboto"/>
              </a:rPr>
              <a:t> (иностранное лицо имеет доступ)</a:t>
            </a:r>
            <a:endParaRPr sz="1300" b="1" i="0" dirty="0">
              <a:solidFill>
                <a:srgbClr val="F1584D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Использование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Google Analytics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Использование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иностранных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онлайн-сервисов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Передача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данных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дочерней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компании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за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рубежом</a:t>
            </a:r>
            <a:endParaRPr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100" b="0" i="0" dirty="0" err="1">
                <a:solidFill>
                  <a:srgbClr val="3B3B3B"/>
                </a:solidFill>
                <a:latin typeface="Roboto"/>
              </a:rPr>
              <a:t>Хранилища</a:t>
            </a:r>
            <a:r>
              <a:rPr sz="1100" b="0" i="0" dirty="0">
                <a:solidFill>
                  <a:srgbClr val="3B3B3B"/>
                </a:solidFill>
                <a:latin typeface="Roboto"/>
              </a:rPr>
              <a:t> Dropbox, Google Drive</a:t>
            </a:r>
            <a:endParaRPr lang="ru-RU" sz="1100" b="0" i="0" dirty="0">
              <a:solidFill>
                <a:srgbClr val="3B3B3B"/>
              </a:solidFill>
              <a:latin typeface="Roboto"/>
            </a:endParaRPr>
          </a:p>
          <a:p>
            <a:pPr marL="201168" indent="-201168">
              <a:spcAft>
                <a:spcPts val="600"/>
              </a:spcAft>
            </a:pPr>
            <a:r>
              <a:rPr lang="ru-RU" sz="1100" dirty="0">
                <a:solidFill>
                  <a:srgbClr val="3B3B3B"/>
                </a:solidFill>
                <a:latin typeface="Roboto"/>
              </a:rPr>
              <a:t>— Использование иностранного ИИ</a:t>
            </a:r>
            <a:endParaRPr lang="en-GB" sz="1100" dirty="0">
              <a:solidFill>
                <a:srgbClr val="3B3B3B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endParaRPr sz="1100" b="0" i="0" dirty="0">
              <a:solidFill>
                <a:srgbClr val="3B3B3B"/>
              </a:solidFill>
              <a:latin typeface="Roboto"/>
            </a:endParaRP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4572000" y="2057400"/>
            <a:ext cx="0" cy="173736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92040" y="2057400"/>
            <a:ext cx="3840480" cy="237744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F1584D"/>
                </a:solidFill>
                <a:latin typeface="Roboto"/>
              </a:rPr>
              <a:t>Нет, это не ТГП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Передача данных своему филиалу или представительству за рубежом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Работники российской компании работают удалённо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Использование удалённого рабочего стола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379476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3950208"/>
            <a:ext cx="8138160" cy="9144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 dirty="0" err="1">
                <a:solidFill>
                  <a:srgbClr val="191919"/>
                </a:solidFill>
                <a:latin typeface="Roboto"/>
              </a:rPr>
              <a:t>Три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позиции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регуляторов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,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о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которых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чаще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всего</a:t>
            </a:r>
            <a:r>
              <a:rPr sz="1250" b="1" i="0" dirty="0">
                <a:solidFill>
                  <a:srgbClr val="191919"/>
                </a:solidFill>
                <a:latin typeface="Roboto"/>
              </a:rPr>
              <a:t> </a:t>
            </a:r>
            <a:r>
              <a:rPr sz="1250" b="1" i="0" dirty="0" err="1">
                <a:solidFill>
                  <a:srgbClr val="191919"/>
                </a:solidFill>
                <a:latin typeface="Roboto"/>
              </a:rPr>
              <a:t>спрашивают</a:t>
            </a:r>
            <a:endParaRPr sz="1250" b="1" i="0" dirty="0">
              <a:solidFill>
                <a:srgbClr val="191919"/>
              </a:solidFill>
              <a:latin typeface="Roboto"/>
            </a:endParaRP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Канал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в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мессенджере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к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которому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субъекты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присоединяются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по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ссылке-приглашению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под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определение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ТГП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подпадает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(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ответ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ЦА РКН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от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14.12.2023 № 08-145976)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Работа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на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виртуальной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машине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за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рубежом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является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ТГП: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передачи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иностранному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лицу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происходит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(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позиция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Минцифры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)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000" b="0" i="0" dirty="0">
                <a:solidFill>
                  <a:srgbClr val="3B3B3B"/>
                </a:solidFill>
                <a:latin typeface="Roboto"/>
              </a:rPr>
              <a:t>—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Если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обработчик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передаёт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данные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за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рубеж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по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вашему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поручению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—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уведомляет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оператор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,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а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не</a:t>
            </a:r>
            <a:r>
              <a:rPr sz="1000" b="0" i="0" dirty="0">
                <a:solidFill>
                  <a:srgbClr val="3B3B3B"/>
                </a:solidFill>
                <a:latin typeface="Roboto"/>
              </a:rPr>
              <a:t> </a:t>
            </a:r>
            <a:r>
              <a:rPr sz="1000" b="0" i="0" dirty="0" err="1">
                <a:solidFill>
                  <a:srgbClr val="3B3B3B"/>
                </a:solidFill>
                <a:latin typeface="Roboto"/>
              </a:rPr>
              <a:t>обработчик</a:t>
            </a:r>
            <a:endParaRPr sz="1000" b="0" i="0" dirty="0">
              <a:solidFill>
                <a:srgbClr val="3B3B3B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Уведомление о ТГП: когда подавать и что решит Роскомнадзор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3840480" cy="1828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1584D"/>
                </a:solidFill>
                <a:latin typeface="Roboto"/>
              </a:rPr>
              <a:t>Нужно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Систематическая деятельность с конкретным государством — постоянный контрагент, сервис, инфраструктура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sz="1300" b="1" i="0">
                <a:solidFill>
                  <a:srgbClr val="F1584D"/>
                </a:solidFill>
                <a:latin typeface="Roboto"/>
              </a:rPr>
              <a:t>Не нужно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Разовая переписка по почте с контрагентом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Подключение к звонку в Zoom или Google Meet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Бронирование отеля сотруднику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987552"/>
            <a:ext cx="0" cy="265176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92040" y="987552"/>
            <a:ext cx="3840480" cy="26517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Сроки рассмотрения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10 рабочих дней на решение по уведомлению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Плюс 10 и 5 рабочих дней, если Роскомнадзор направит запрос и получит ответ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sz="1300" b="1" i="0">
                <a:solidFill>
                  <a:srgbClr val="191919"/>
                </a:solidFill>
                <a:latin typeface="Roboto"/>
              </a:rPr>
              <a:t>Роскомнадзор запретит передачу, если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Получатель не защищает данные и не определены условия прекращения обработки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Получатель — организация, деятельность которой запрещена или признана нежелательной в РФ</a:t>
            </a:r>
          </a:p>
          <a:p>
            <a:pPr marL="201168" indent="-201168"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3B3B"/>
                </a:solidFill>
                <a:latin typeface="Roboto"/>
              </a:rPr>
              <a:t>— Передача несовместима с целями сбора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3886200"/>
            <a:ext cx="9144000" cy="0"/>
          </a:xfrm>
          <a:prstGeom prst="line">
            <a:avLst/>
          </a:prstGeom>
          <a:ln w="9525">
            <a:solidFill>
              <a:srgbClr val="F1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4069080"/>
            <a:ext cx="8138160" cy="7315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191919"/>
                </a:solidFill>
                <a:latin typeface="Roboto"/>
              </a:rPr>
              <a:t>Две процедуры — разные гарантии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Если Роскомнадзор принимает решение сам, он предварительно запрашивает позицию оператора. Если решение принимается по представлению ФСБ, Минобороны или МИД — оператор узнаёт об этом постфактум.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6072"/>
          </a:xfrm>
        </p:spPr>
        <p:txBody>
          <a:bodyPr wrap="square"/>
          <a:lstStyle/>
          <a:p>
            <a:r>
              <a:rPr sz="2000"/>
              <a:t>Пять ошибок, которые повторяют почти все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1584D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87552"/>
            <a:ext cx="3200400" cy="6400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«Мы ещё маленькие, до нас не дойдут»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987552"/>
            <a:ext cx="4206240" cy="685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Уведомление о начале обработки — самостоятельное нарушение с отдельным штрафом до 300 тыс. руб. Проверка не нужна: отсутствие в реестре видно публично.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64792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1584D"/>
                </a:solidFill>
                <a:latin typeface="Robot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3200400" cy="6400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Политика и согласие скачаны из интернета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64792"/>
            <a:ext cx="4206240" cy="685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Документ, подходящий любой компании в стране, не описывает ваши реальные процессы. Расхождение документа и практики регулятор увидит сразу.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1584D"/>
                </a:solidFill>
                <a:latin typeface="Robot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3200400" cy="6400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Согласие «зашито» в оферту или пакет документов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42032"/>
            <a:ext cx="4206240" cy="685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С 1 сентября 2025 года это прямое нарушение — до 700 тыс. руб. за первый раз.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9272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1584D"/>
                </a:solidFill>
                <a:latin typeface="Robot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9272"/>
            <a:ext cx="3200400" cy="6400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С подрядчиками нет договоров поручения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19272"/>
            <a:ext cx="4206240" cy="685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Передача данных подрядчику без поручения — обработка без основания. Плюс вы всё равно отвечаете за его утечку перед субъектом.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41148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1584D"/>
                </a:solidFill>
                <a:latin typeface="Roboto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3200400" cy="6400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91919"/>
                </a:solidFill>
                <a:latin typeface="Roboto"/>
              </a:rPr>
              <a:t>Нет плана на случай инцидента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96512"/>
            <a:ext cx="4206240" cy="685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3B3B3B"/>
                </a:solidFill>
                <a:latin typeface="Roboto"/>
              </a:rPr>
              <a:t>24 часа на уведомление — это меньше, чем срок согласования письма внутри компании. План и ответственный должны существовать заранее.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224" y="1691640"/>
            <a:ext cx="5943600" cy="1463040"/>
          </a:xfrm>
        </p:spPr>
        <p:txBody>
          <a:bodyPr wrap="square"/>
          <a:lstStyle/>
          <a:p>
            <a:r>
              <a:t>Спасибо за внимание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60136" y="256032"/>
            <a:ext cx="2843784" cy="1170432"/>
          </a:xfrm>
        </p:spPr>
        <p:txBody>
          <a:bodyPr wrap="square"/>
          <a:lstStyle/>
          <a:p>
            <a:r>
              <a:t>Есть вопросы?</a:t>
            </a:r>
          </a:p>
          <a:p>
            <a:r>
              <a:t>alexandr_charkin@mail.ru</a:t>
            </a:r>
          </a:p>
          <a:p>
            <a:r>
              <a:t>@charkin_alexandr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4617720"/>
            <a:ext cx="137160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 i="0">
                <a:solidFill>
                  <a:srgbClr val="777777"/>
                </a:solidFill>
                <a:latin typeface="Roboto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d Maps Boost by Slidesgo">
  <a:themeElements>
    <a:clrScheme name="Simple Light">
      <a:dk1>
        <a:srgbClr val="191919"/>
      </a:dk1>
      <a:lt1>
        <a:srgbClr val="EFEFEF"/>
      </a:lt1>
      <a:dk2>
        <a:srgbClr val="191919"/>
      </a:dk2>
      <a:lt2>
        <a:srgbClr val="F1613C"/>
      </a:lt2>
      <a:accent1>
        <a:srgbClr val="F1584D"/>
      </a:accent1>
      <a:accent2>
        <a:srgbClr val="F0567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3107</Words>
  <Application>Microsoft Macintosh PowerPoint</Application>
  <PresentationFormat>Экран (16:9)</PresentationFormat>
  <Paragraphs>399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2" baseType="lpstr">
      <vt:lpstr>Geist</vt:lpstr>
      <vt:lpstr>Open Sans Light</vt:lpstr>
      <vt:lpstr>Funnel Sans</vt:lpstr>
      <vt:lpstr>Roboto</vt:lpstr>
      <vt:lpstr>Arial</vt:lpstr>
      <vt:lpstr>Geist SemiBold</vt:lpstr>
      <vt:lpstr>Geist Mono</vt:lpstr>
      <vt:lpstr>Nunito Light</vt:lpstr>
      <vt:lpstr>Mind Maps Boost by Slidesgo</vt:lpstr>
      <vt:lpstr>Персональные данные: как составить соглашение,  которое устроит РКН</vt:lpstr>
      <vt:lpstr>Презентация PowerPoint</vt:lpstr>
      <vt:lpstr>Почему это важно</vt:lpstr>
      <vt:lpstr>Базовые штрафы: ст. 13.11 КоАП РФ</vt:lpstr>
      <vt:lpstr>Оборотные штрафы за утечки</vt:lpstr>
      <vt:lpstr>Уголовная ответственность: ст. 272.1 УК РФ</vt:lpstr>
      <vt:lpstr>Что такое персональные данные?</vt:lpstr>
      <vt:lpstr>Персональные данные: определение</vt:lpstr>
      <vt:lpstr>Почему это касается любого стартапа</vt:lpstr>
      <vt:lpstr>Что практика относит к персональным данным</vt:lpstr>
      <vt:lpstr>Категории персональных данных</vt:lpstr>
      <vt:lpstr>Что закон считает «обработкой»</vt:lpstr>
      <vt:lpstr>Оператор и обработчик: кто есть кто</vt:lpstr>
      <vt:lpstr>Оператор и обработчик: два разных статуса</vt:lpstr>
      <vt:lpstr>Поручение на обработку: что должно быть в договоре</vt:lpstr>
      <vt:lpstr>Кто перед кем отвечает</vt:lpstr>
      <vt:lpstr>Основания обработки и требования к согласию</vt:lpstr>
      <vt:lpstr>Шесть оснований обработки, которые нужны стартапу</vt:lpstr>
      <vt:lpstr>Пять требований к согласию</vt:lpstr>
      <vt:lpstr>Отдельное согласие: правило с 1 сентября 2025 года</vt:lpstr>
      <vt:lpstr>Как правильно сделать форму на сайте</vt:lpstr>
      <vt:lpstr>Уведомление Роскомнадзора и документы оператора</vt:lpstr>
      <vt:lpstr>Уведомление об обработке: кто подаёт и когда</vt:lpstr>
      <vt:lpstr>Уведомление: на что смотрят и чем рискуете</vt:lpstr>
      <vt:lpstr>Базовый пакет документов оператора</vt:lpstr>
      <vt:lpstr>Политика обработки персональных данных</vt:lpstr>
      <vt:lpstr>Чек-лист аудита сайта</vt:lpstr>
      <vt:lpstr>Локализация и трансграничная передача</vt:lpstr>
      <vt:lpstr>Локализация: что должно остаться в России</vt:lpstr>
      <vt:lpstr>Трансграничная передача: что это и когда возникает</vt:lpstr>
      <vt:lpstr>Уведомление о ТГП: когда подавать и что решит Роскомнадзор</vt:lpstr>
      <vt:lpstr>Пять ошибок, которые повторяют почти все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Налоги для стартапа</dc:title>
  <cp:lastModifiedBy>Чаркин Александр</cp:lastModifiedBy>
  <cp:revision>23</cp:revision>
  <dcterms:modified xsi:type="dcterms:W3CDTF">2026-08-21T09:48:49Z</dcterms:modified>
</cp:coreProperties>
</file>